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425" r:id="rId3"/>
    <p:sldId id="437" r:id="rId4"/>
    <p:sldId id="407" r:id="rId5"/>
    <p:sldId id="440" r:id="rId6"/>
    <p:sldId id="438" r:id="rId7"/>
    <p:sldId id="415" r:id="rId8"/>
    <p:sldId id="439" r:id="rId9"/>
    <p:sldId id="453"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63484" autoAdjust="0"/>
  </p:normalViewPr>
  <p:slideViewPr>
    <p:cSldViewPr>
      <p:cViewPr varScale="1">
        <p:scale>
          <a:sx n="31" d="100"/>
          <a:sy n="31" d="100"/>
        </p:scale>
        <p:origin x="912" y="53"/>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1</a:t>
            </a:fld>
            <a:endParaRPr lang="en-US"/>
          </a:p>
        </p:txBody>
      </p:sp>
    </p:spTree>
    <p:extLst>
      <p:ext uri="{BB962C8B-B14F-4D97-AF65-F5344CB8AC3E}">
        <p14:creationId xmlns:p14="http://schemas.microsoft.com/office/powerpoint/2010/main" val="4095159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you have a proper Excel Table. It auto-expands, it has structured references, it’s clean. But here’s what I want you to notice: this Table is still sitting by itself. What happens when you need to connect it to another dataset? Say you have a sales table AND a customer table, and you need to analyze them together. That’s where the Data Model comes in, and that’s where things get really powerful. We’re not going there today, but just know: what you just built is the foundation for something much bigger.</a:t>
            </a:r>
          </a:p>
        </p:txBody>
      </p:sp>
      <p:sp>
        <p:nvSpPr>
          <p:cNvPr id="4" name="Slide Number Placeholder 3"/>
          <p:cNvSpPr>
            <a:spLocks noGrp="1"/>
          </p:cNvSpPr>
          <p:nvPr>
            <p:ph type="sldNum" sz="quarter" idx="5"/>
          </p:nvPr>
        </p:nvSpPr>
        <p:spPr/>
        <p:txBody>
          <a:bodyPr/>
          <a:lstStyle/>
          <a:p>
            <a:fld id="{1300335D-9F13-4B80-ADC5-B0EA3E10FF6B}" type="slidenum">
              <a:rPr lang="en-US" smtClean="0"/>
              <a:t>4</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D567-4E92-5456-76DE-64BB8D1D7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FAB1C-F351-A3B8-EF0C-07B74DD93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C3273-B52E-75C7-4AA5-00426F7665DC}"/>
              </a:ext>
            </a:extLst>
          </p:cNvPr>
          <p:cNvSpPr>
            <a:spLocks noGrp="1"/>
          </p:cNvSpPr>
          <p:nvPr>
            <p:ph type="body" idx="1"/>
          </p:nvPr>
        </p:nvSpPr>
        <p:spPr/>
        <p:txBody>
          <a:bodyPr/>
          <a:lstStyle/>
          <a:p>
            <a:r>
              <a:rPr lang="en-US" dirty="0"/>
              <a:t>Pretty cool, right? Analyze Data gave you instant charts and summaries with zero formulas. But I want to be upfront about something: this is great for quick exploration. It’s not great for repeatable analysis. Next week when your boss asks “can you run that same analysis on the new numbers?” you’re starting from scratch. There’s no saved workflow. That’s the gap between a quick insight and a reliable process — and it’s the gap most Excel users never close.</a:t>
            </a:r>
          </a:p>
        </p:txBody>
      </p:sp>
      <p:sp>
        <p:nvSpPr>
          <p:cNvPr id="4" name="Slide Number Placeholder 3">
            <a:extLst>
              <a:ext uri="{FF2B5EF4-FFF2-40B4-BE49-F238E27FC236}">
                <a16:creationId xmlns:a16="http://schemas.microsoft.com/office/drawing/2014/main" id="{1850843E-9294-D301-C38E-EC9A5838A381}"/>
              </a:ext>
            </a:extLst>
          </p:cNvPr>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55642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9B45-FCD9-C2E1-5121-5C6BF4C99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4D143-DDA1-96A8-FAFB-F9C6B37BA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1BDB9-9282-E5F0-D75A-94F61F4D72DC}"/>
              </a:ext>
            </a:extLst>
          </p:cNvPr>
          <p:cNvSpPr>
            <a:spLocks noGrp="1"/>
          </p:cNvSpPr>
          <p:nvPr>
            <p:ph type="body" idx="1"/>
          </p:nvPr>
        </p:nvSpPr>
        <p:spPr/>
        <p:txBody>
          <a:bodyPr/>
          <a:lstStyle/>
          <a:p>
            <a:r>
              <a:rPr lang="en-US" dirty="0"/>
              <a:t>OK so now your data is clean and it refreshes automatically. Beautiful. But what would you do next? You’d probably load this into the Data Model, create a relationship with another table, build a PivotTable with DAX measures, maybe even bring Python in for a statistical breakdown. That’s the full pipeline — from messy raw data all the way to an insight your team can act on. We just did step one.</a:t>
            </a:r>
          </a:p>
          <a:p>
            <a:r>
              <a:rPr lang="en-US" dirty="0"/>
              <a:t>I’m not going to pretend steps two through five are simple enough for a demo. That’s the work I do with people in the Modern Excel AI Stack.</a:t>
            </a:r>
          </a:p>
        </p:txBody>
      </p:sp>
      <p:sp>
        <p:nvSpPr>
          <p:cNvPr id="4" name="Slide Number Placeholder 3">
            <a:extLst>
              <a:ext uri="{FF2B5EF4-FFF2-40B4-BE49-F238E27FC236}">
                <a16:creationId xmlns:a16="http://schemas.microsoft.com/office/drawing/2014/main" id="{ECD23788-BD0E-83B3-6825-80BAEA177181}"/>
              </a:ext>
            </a:extLst>
          </p:cNvPr>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2055381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three things are genuinely useful and you can use them tomorrow. But I’d be doing you a disservice if I pretended that’s the whole story.</a:t>
            </a:r>
          </a:p>
          <a:p>
            <a:r>
              <a:rPr lang="en-US" dirty="0"/>
              <a:t>Tables give you structure — but a table sitting by itself is still flat. You can’t relate it to other data, you can’t build measures on top of it, you can’t answer questions that span multiple datasets. For that you need the Data Model, and most people never get there.</a:t>
            </a:r>
          </a:p>
          <a:p>
            <a:r>
              <a:rPr lang="en-US" dirty="0"/>
              <a:t>Power Query cleaned your data beautifully — once. But what happens next month when the source file changes format? Or when you need to merge five files instead of one? Or when someone asks why your numbers don’t match finance’s report? One cleanup is not a pipeline. A pipeline is something that runs reliably every time without you babysitting it.</a:t>
            </a:r>
          </a:p>
          <a:p>
            <a:r>
              <a:rPr lang="en-US" dirty="0"/>
              <a:t>Analyze Data gave you quick insights — but they’re gone the moment you close the pane. There’s no saved analysis. No audit trail. No way to hand it to a colleague and say “here, run this again next quarter.” Quick insights are great for exploration, but they’re not how you make decisions you can defend.</a:t>
            </a:r>
          </a:p>
          <a:p>
            <a:r>
              <a:rPr lang="en-US" dirty="0"/>
              <a:t>Each of these is step one of a longer process. And the gap between step one and a reliable workflow is where most people get stuck and give up.</a:t>
            </a:r>
          </a:p>
        </p:txBody>
      </p:sp>
      <p:sp>
        <p:nvSpPr>
          <p:cNvPr id="4" name="Slide Number Placeholder 3"/>
          <p:cNvSpPr>
            <a:spLocks noGrp="1"/>
          </p:cNvSpPr>
          <p:nvPr>
            <p:ph type="sldNum" sz="quarter" idx="5"/>
          </p:nvPr>
        </p:nvSpPr>
        <p:spPr/>
        <p:txBody>
          <a:bodyPr/>
          <a:lstStyle/>
          <a:p>
            <a:fld id="{1300335D-9F13-4B80-ADC5-B0EA3E10FF6B}" type="slidenum">
              <a:rPr lang="en-US" smtClean="0"/>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spending this time with me. I hope you got something useful out of today.</a:t>
            </a:r>
          </a:p>
        </p:txBody>
      </p:sp>
      <p:sp>
        <p:nvSpPr>
          <p:cNvPr id="4" name="Slide Number Placeholder 3"/>
          <p:cNvSpPr>
            <a:spLocks noGrp="1"/>
          </p:cNvSpPr>
          <p:nvPr>
            <p:ph type="sldNum" sz="quarter" idx="5"/>
          </p:nvPr>
        </p:nvSpPr>
        <p:spPr/>
        <p:txBody>
          <a:bodyPr/>
          <a:lstStyle/>
          <a:p>
            <a:fld id="{1300335D-9F13-4B80-ADC5-B0EA3E10FF6B}"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a:solidFill>
                  <a:srgbClr val="CF3338"/>
                </a:solidFill>
                <a:latin typeface="Pragmatica" panose="020B0403040502020204" pitchFamily="34" charset="0"/>
              </a:rPr>
              <a:t>Modern Excel Demo Day</a:t>
            </a:r>
            <a:endParaRPr lang="en-US" sz="5400" b="1" dirty="0">
              <a:solidFill>
                <a:srgbClr val="CF3338"/>
              </a:solidFill>
              <a:latin typeface="Pragmatica" panose="020B0403040502020204" pitchFamily="34" charset="0"/>
            </a:endParaRP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446550"/>
          </a:xfrm>
          <a:prstGeom prst="rect">
            <a:avLst/>
          </a:prstGeom>
          <a:noFill/>
        </p:spPr>
        <p:txBody>
          <a:bodyPr wrap="square" rtlCol="0">
            <a:spAutoFit/>
          </a:bodyPr>
          <a:lstStyle/>
          <a:p>
            <a:r>
              <a:rPr lang="en-US" sz="4400" b="1" dirty="0">
                <a:solidFill>
                  <a:schemeClr val="bg1"/>
                </a:solidFill>
              </a:rPr>
              <a:t>I help Excel users move from fragile spreadsheets</a:t>
            </a:r>
          </a:p>
          <a:p>
            <a:r>
              <a:rPr lang="en-US" sz="4400" b="1" dirty="0">
                <a:solidFill>
                  <a:schemeClr val="bg1"/>
                </a:solidFill>
              </a:rPr>
              <a:t>to confident, scalable analysis.</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Thais Cooke on LinkedIn: #linkedinlearninginstructor #linkedinlearning | 82  comments">
            <a:extLst>
              <a:ext uri="{FF2B5EF4-FFF2-40B4-BE49-F238E27FC236}">
                <a16:creationId xmlns:a16="http://schemas.microsoft.com/office/drawing/2014/main" id="{2E3C0D6C-F7C9-F3C4-3BAA-FF34E086E7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78000" y="5312978"/>
            <a:ext cx="33337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9E9DD-6C52-11D7-FF34-4264EA22725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34997D2-521B-C2AB-A68A-2EB202160AAF}"/>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Objectives for today</a:t>
            </a:r>
          </a:p>
        </p:txBody>
      </p:sp>
      <p:sp>
        <p:nvSpPr>
          <p:cNvPr id="3" name="TextBox 2">
            <a:extLst>
              <a:ext uri="{FF2B5EF4-FFF2-40B4-BE49-F238E27FC236}">
                <a16:creationId xmlns:a16="http://schemas.microsoft.com/office/drawing/2014/main" id="{0770AD58-6393-FAA1-1B49-C4E35BD89376}"/>
              </a:ext>
            </a:extLst>
          </p:cNvPr>
          <p:cNvSpPr txBox="1"/>
          <p:nvPr/>
        </p:nvSpPr>
        <p:spPr>
          <a:xfrm>
            <a:off x="520861" y="3191948"/>
            <a:ext cx="14393120" cy="4154984"/>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6600" dirty="0">
                <a:solidFill>
                  <a:srgbClr val="707070"/>
                </a:solidFill>
                <a:latin typeface="Pragmatica" panose="020B0403040502020204" pitchFamily="34" charset="0"/>
              </a:rPr>
              <a:t>Structure data reliably with Excel Tables</a:t>
            </a:r>
          </a:p>
          <a:p>
            <a:pPr marL="685800" indent="-685800">
              <a:buClr>
                <a:srgbClr val="CF3338"/>
              </a:buClr>
              <a:buFont typeface="Arial" panose="020B0604020202020204" pitchFamily="34" charset="0"/>
              <a:buChar char="•"/>
            </a:pPr>
            <a:r>
              <a:rPr lang="en-US" sz="6600" dirty="0">
                <a:solidFill>
                  <a:srgbClr val="707070"/>
                </a:solidFill>
                <a:latin typeface="Pragmatica" panose="020B0403040502020204" pitchFamily="34" charset="0"/>
              </a:rPr>
              <a:t>Generate insights quickly with Analyze Data</a:t>
            </a:r>
          </a:p>
          <a:p>
            <a:pPr marL="685800" indent="-685800">
              <a:buClr>
                <a:srgbClr val="CF3338"/>
              </a:buClr>
              <a:buFont typeface="Arial" panose="020B0604020202020204" pitchFamily="34" charset="0"/>
              <a:buChar char="•"/>
            </a:pPr>
            <a:r>
              <a:rPr lang="en-US" sz="6600" dirty="0">
                <a:solidFill>
                  <a:srgbClr val="707070"/>
                </a:solidFill>
                <a:latin typeface="Pragmatica" panose="020B0403040502020204" pitchFamily="34" charset="0"/>
              </a:rPr>
              <a:t>Automate data prep with Power Query</a:t>
            </a:r>
            <a:endParaRPr lang="en-US" sz="6600" dirty="0">
              <a:solidFill>
                <a:srgbClr val="CF3338"/>
              </a:solidFill>
              <a:latin typeface="Pragmatica" panose="020B0403040502020204" pitchFamily="34" charset="0"/>
            </a:endParaRPr>
          </a:p>
        </p:txBody>
      </p:sp>
      <p:pic>
        <p:nvPicPr>
          <p:cNvPr id="15" name="Picture 14" descr="A close up of a sign  Description automatically generated">
            <a:extLst>
              <a:ext uri="{FF2B5EF4-FFF2-40B4-BE49-F238E27FC236}">
                <a16:creationId xmlns:a16="http://schemas.microsoft.com/office/drawing/2014/main" id="{9B8F3280-B18F-CF7A-E13E-97BB5CDA86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321459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7561557"/>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#1: Reliable Data Inputs with Excel Tables</a:t>
            </a:r>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Manual range updates and formatting chaos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Transform ranges into smart Excel Tables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Faster, cleaner spreadsheets</a:t>
            </a:r>
          </a:p>
        </p:txBody>
      </p:sp>
    </p:spTree>
    <p:extLst>
      <p:ext uri="{BB962C8B-B14F-4D97-AF65-F5344CB8AC3E}">
        <p14:creationId xmlns:p14="http://schemas.microsoft.com/office/powerpoint/2010/main" val="3871531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8B0BA-2457-E883-9B94-9EF4CB53F4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2669EB-FDD3-FD04-8DC6-CC0F1E621197}"/>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1AF1603A-5226-7133-332B-9ED91B061A51}"/>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3A1F1624-DFBB-B741-F011-B1F4773062C8}"/>
              </a:ext>
            </a:extLst>
          </p:cNvPr>
          <p:cNvSpPr txBox="1"/>
          <p:nvPr/>
        </p:nvSpPr>
        <p:spPr>
          <a:xfrm>
            <a:off x="260431" y="329879"/>
            <a:ext cx="8906720" cy="8045279"/>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#2: Analyze Data (AI in Excel… No Copilot Needed!)</a:t>
            </a:r>
            <a:br>
              <a:rPr lang="en-US" sz="6000" b="1" dirty="0">
                <a:solidFill>
                  <a:srgbClr val="CF3338"/>
                </a:solidFill>
                <a:latin typeface="Pragmatica" panose="020B0403040502020204" pitchFamily="34" charset="0"/>
              </a:rPr>
            </a:b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Overwhelmed by large datasets</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Get instant AI-powered insights from Excel’s Analyze Data</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Quick, actionable analysis… no formulas required</a:t>
            </a:r>
          </a:p>
        </p:txBody>
      </p:sp>
    </p:spTree>
    <p:extLst>
      <p:ext uri="{BB962C8B-B14F-4D97-AF65-F5344CB8AC3E}">
        <p14:creationId xmlns:p14="http://schemas.microsoft.com/office/powerpoint/2010/main" val="3710875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1A27C-8894-1039-C10D-49DEF731C87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AA0A13-9A6F-743A-214C-42DDAEB6B116}"/>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CE70788E-B0DE-D358-5D84-0751068117D4}"/>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DDDA3F19-3713-EED4-6645-27996F2BE4BF}"/>
              </a:ext>
            </a:extLst>
          </p:cNvPr>
          <p:cNvSpPr txBox="1"/>
          <p:nvPr/>
        </p:nvSpPr>
        <p:spPr>
          <a:xfrm>
            <a:off x="260431" y="329879"/>
            <a:ext cx="8906720" cy="8054000"/>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Quick Win #3: Power Query Data Cleanup</a:t>
            </a:r>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Problem: Repetitive, error-prone data prep</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Demo: Automate data cleaning with Power Query</a:t>
            </a:r>
          </a:p>
          <a:p>
            <a:pPr marL="685800" indent="-542925">
              <a:lnSpc>
                <a:spcPct val="115000"/>
              </a:lnSpc>
              <a:spcBef>
                <a:spcPts val="1125"/>
              </a:spcBef>
              <a:buClr>
                <a:srgbClr val="C00000"/>
              </a:buClr>
              <a:buSzPts val="2100"/>
              <a:buFont typeface="Arial"/>
              <a:buAutoNum type="arabicPeriod"/>
            </a:pPr>
            <a:r>
              <a:rPr lang="en-US" sz="4000" dirty="0">
                <a:solidFill>
                  <a:srgbClr val="C00000"/>
                </a:solidFill>
                <a:latin typeface="Pragmatica" panose="020B0403040502020204"/>
                <a:sym typeface="Consolas"/>
              </a:rPr>
              <a:t>Result: Reliable, repeatable data workflows.. AND better analysis results!</a:t>
            </a:r>
          </a:p>
        </p:txBody>
      </p:sp>
    </p:spTree>
    <p:extLst>
      <p:ext uri="{BB962C8B-B14F-4D97-AF65-F5344CB8AC3E}">
        <p14:creationId xmlns:p14="http://schemas.microsoft.com/office/powerpoint/2010/main" val="3595346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07818-29D2-F5F6-BFE3-AC95409C3FD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2629BB8-6DE7-E426-3AFF-CFA5F3FBCCF4}"/>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What you saw vs. what’s left</a:t>
            </a:r>
          </a:p>
        </p:txBody>
      </p:sp>
      <p:sp>
        <p:nvSpPr>
          <p:cNvPr id="3" name="TextBox 2">
            <a:extLst>
              <a:ext uri="{FF2B5EF4-FFF2-40B4-BE49-F238E27FC236}">
                <a16:creationId xmlns:a16="http://schemas.microsoft.com/office/drawing/2014/main" id="{84647282-4EAE-D08B-0199-F568519F58C3}"/>
              </a:ext>
            </a:extLst>
          </p:cNvPr>
          <p:cNvSpPr txBox="1"/>
          <p:nvPr/>
        </p:nvSpPr>
        <p:spPr>
          <a:xfrm>
            <a:off x="520861" y="3191948"/>
            <a:ext cx="14393120" cy="258532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Tables → but without a Data Model, still flat</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Query → but one cleanup isn’t a pipeline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Analyze Data → but quick insights aren’t repeatable</a:t>
            </a:r>
          </a:p>
        </p:txBody>
      </p:sp>
      <p:pic>
        <p:nvPicPr>
          <p:cNvPr id="15" name="Picture 14" descr="A close up of a sign  Description automatically generated">
            <a:extLst>
              <a:ext uri="{FF2B5EF4-FFF2-40B4-BE49-F238E27FC236}">
                <a16:creationId xmlns:a16="http://schemas.microsoft.com/office/drawing/2014/main" id="{C54442A3-1184-472E-336C-0DB56D7A7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1138747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0C042-4FA7-C99A-DB6A-E56C8A4C9F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8FBC8C-6CC2-040B-E74D-EA0547D9066A}"/>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C3242B5A-8DE0-9FEB-CCC9-737A969B938A}"/>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3998672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2666</TotalTime>
  <Words>767</Words>
  <Application>Microsoft Office PowerPoint</Application>
  <PresentationFormat>Custom</PresentationFormat>
  <Paragraphs>43</Paragraphs>
  <Slides>9</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Normafixed Tryout</vt:lpstr>
      <vt:lpstr>Pragmatica</vt:lpstr>
      <vt:lpstr>Aliens &amp; cows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240</cp:revision>
  <dcterms:created xsi:type="dcterms:W3CDTF">2006-08-16T00:00:00Z</dcterms:created>
  <dcterms:modified xsi:type="dcterms:W3CDTF">2026-04-27T17:24:53Z</dcterms:modified>
  <dc:identifier>DADurESpNu8</dc:identifier>
</cp:coreProperties>
</file>